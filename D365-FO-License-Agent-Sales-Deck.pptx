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D365 FO License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0E6FF"/>
                </a:solidFill>
                <a:latin typeface="Segoe UI"/>
              </a:defRPr>
            </a:pPr>
            <a:r>
              <a:t>Optimization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CD0"/>
                </a:solidFill>
                <a:latin typeface="Segoe UI"/>
              </a:defRPr>
            </a:pPr>
            <a:r>
              <a:t>AI-Powered License Cost Reduction &amp; Security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06240"/>
            <a:ext cx="3047695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50E6FF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3"/>
                </a:solidFill>
                <a:latin typeface="Segoe UI"/>
              </a:defRPr>
            </a:pPr>
            <a:r>
              <a:t>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663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50E6FF"/>
                </a:solidFill>
                <a:latin typeface="Segoe UI"/>
              </a:defRPr>
            </a:pPr>
            <a:r>
              <a:t>15-25%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3"/>
                </a:solidFill>
                <a:latin typeface="Segoe UI"/>
              </a:defRPr>
            </a:pPr>
            <a:r>
              <a:t>Cost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663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50E6FF"/>
                </a:solidFill>
                <a:latin typeface="Segoe UI"/>
              </a:defRPr>
            </a:pPr>
            <a:r>
              <a:t>300-500%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3"/>
                </a:solidFill>
                <a:latin typeface="Segoe UI"/>
              </a:defRPr>
            </a:pPr>
            <a:r>
              <a:t>Annual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663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50E6FF"/>
                </a:solidFill>
                <a:latin typeface="Segoe UI"/>
              </a:defRPr>
            </a:pPr>
            <a:r>
              <a:t>3-4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3"/>
                </a:solidFill>
                <a:latin typeface="Segoe UI"/>
              </a:defRPr>
            </a:pPr>
            <a:r>
              <a:t>To 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93"/>
                </a:solidFill>
                <a:latin typeface="Segoe UI"/>
              </a:defRPr>
            </a:pPr>
            <a:r>
              <a:t>Built on Azure AI Foundry  |  Microsoft D365 Finance &amp;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4D4D"/>
                </a:solidFill>
                <a:latin typeface="Segoe UI"/>
              </a:defRPr>
            </a:pPr>
            <a:r>
              <a:t>D365 FO license management is broken — and it's costing you millions.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365760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51760" cy="50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98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D4D"/>
                </a:solidFill>
                <a:latin typeface="Segoe UI"/>
              </a:defRPr>
            </a:pPr>
            <a:r>
              <a:t>WASTED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904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Over-Licensing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71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15-25% of licenses are over-provisioned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5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Users assigned expensive licenses for read-only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9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No visibility into actual usage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33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Manual reviews happen yearly at best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645920"/>
            <a:ext cx="2651760" cy="365760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645920"/>
            <a:ext cx="2651760" cy="508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798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900"/>
                </a:solidFill>
                <a:latin typeface="Segoe UI"/>
              </a:defRPr>
            </a:pPr>
            <a:r>
              <a:t>COMPLIANCE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0904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Security Blind Spots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71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SoD violations go undetected for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725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Orphaned accounts accumulate silently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979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No automated audit evidence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233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SOX audits require weeks of manual prep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45920"/>
            <a:ext cx="2651760" cy="365760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886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645920"/>
            <a:ext cx="2651760" cy="50800"/>
          </a:xfrm>
          <a:prstGeom prst="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798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64D8"/>
                </a:solidFill>
                <a:latin typeface="Segoe UI"/>
              </a:defRPr>
            </a:pPr>
            <a:r>
              <a:t>OPERATIONAL DRAG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904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Manual Processes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471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License reviews take 80+ hours per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25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No data-driven procurement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79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Reactive instead of proactive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33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Role sprawl with 100s of custom roles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1645920"/>
            <a:ext cx="2651760" cy="365760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6B7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1645920"/>
            <a:ext cx="2651760" cy="50800"/>
          </a:xfrm>
          <a:prstGeom prst="rect">
            <a:avLst/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1798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B93"/>
                </a:solidFill>
                <a:latin typeface="Segoe UI"/>
              </a:defRPr>
            </a:pPr>
            <a:r>
              <a:t>GROWTH BARRIER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0904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No Forecasting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471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Budget surprises at renewal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725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No trend analysis on license needs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979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Can't model what-if scenarios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233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Vendor negotiations without usage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669280"/>
            <a:ext cx="10698480" cy="381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 10,000-user organization wastes $3.2M - $5.4M annually on D365 FO license inefficiencies.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C853"/>
                </a:solidFill>
                <a:latin typeface="Segoe UI"/>
              </a:defRPr>
            </a:pPr>
            <a:r>
              <a:t>An AI Agent that continuously optimizes your D365 FO licenses and security posture.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365760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5176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98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LICENSE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904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Intelligent Cost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71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Detect read-only users for downgrade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5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Multi-license minority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9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Cross-role license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33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Component removal recommendations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645920"/>
            <a:ext cx="2651760" cy="365760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0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645920"/>
            <a:ext cx="2651760" cy="5080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798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7C3"/>
                </a:solidFill>
                <a:latin typeface="Segoe UI"/>
              </a:defRPr>
            </a:pPr>
            <a:r>
              <a:t>SECURITY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0904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Continuous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71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27-rule SoD violation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725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Orphaned account cleanup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979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Entra ID ↔ D365 FO license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233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Real-time anomaly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45920"/>
            <a:ext cx="2651760" cy="365760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886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645920"/>
            <a:ext cx="2651760" cy="50800"/>
          </a:xfrm>
          <a:prstGeom prst="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798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64D8"/>
                </a:solidFill>
                <a:latin typeface="Segoe UI"/>
              </a:defRPr>
            </a:pPr>
            <a:r>
              <a:t>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904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Hands-Off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471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New user license wizard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25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Automated recommendation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79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Manager approval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33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30-day observation mode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1645920"/>
            <a:ext cx="2651760" cy="365760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1645920"/>
            <a:ext cx="2651760" cy="508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1798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900"/>
                </a:solidFill>
                <a:latin typeface="Segoe UI"/>
              </a:defRPr>
            </a:pPr>
            <a:r>
              <a:t>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0904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Data-Driven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471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12-month license trend forecasting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725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Executive cost dashboards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979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Budget planning &amp; procurement intel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2334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SOX/GDPR/ISO compliance reports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669280"/>
            <a:ext cx="1069848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0"/>
                </a:solidFill>
                <a:latin typeface="Segoe UI"/>
              </a:defRPr>
            </a:pPr>
            <a:r>
              <a:t>34 algorithms  |  11 in Phase 1  |  Automated daily/weekly/monthly analysis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0E6FF"/>
                </a:solidFill>
                <a:latin typeface="Segoe UI"/>
              </a:defRPr>
            </a:pPr>
            <a:r>
              <a:t>Five-Phase AI Agent Lifecycle with Continuous Feedback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011680" cy="292608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69164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DATA</a:t>
            </a:r>
            <a:br/>
            <a:r>
              <a:t>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D365 FO + Azure</a:t>
            </a:r>
            <a:br/>
            <a:r>
              <a:t>App Insights</a:t>
            </a:r>
            <a:br/>
            <a:r>
              <a:t>4 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428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93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2011680" cy="292608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0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29000" y="1691640"/>
            <a:ext cx="502920" cy="502920"/>
          </a:xfrm>
          <a:prstGeom prst="ellipse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ANALYSIS &amp;</a:t>
            </a:r>
            <a:br/>
            <a: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11 algorithms</a:t>
            </a:r>
            <a:br/>
            <a:r>
              <a:t>Confidence scoring</a:t>
            </a:r>
            <a:br/>
            <a:r>
              <a:t>Priority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456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93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1554480"/>
            <a:ext cx="2011680" cy="292608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0" y="1691640"/>
            <a:ext cx="502920" cy="50292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VALIDATION &amp;</a:t>
            </a:r>
            <a:br/>
            <a:r>
              <a:t>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30-day observation</a:t>
            </a:r>
            <a:br/>
            <a:r>
              <a:t>Manager approval</a:t>
            </a:r>
            <a:br/>
            <a:r>
              <a:t>Period-end safeguard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484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93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1554480"/>
            <a:ext cx="2011680" cy="292608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1691640"/>
            <a:ext cx="502920" cy="50292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License changes</a:t>
            </a:r>
            <a:br/>
            <a:r>
              <a:t>User notifications</a:t>
            </a:r>
            <a:br/>
            <a:r>
              <a:t>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12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93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1554480"/>
            <a:ext cx="2011680" cy="292608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886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49840" y="1691640"/>
            <a:ext cx="502920" cy="502920"/>
          </a:xfrm>
          <a:prstGeom prst="ellipse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MONITORING &amp;</a:t>
            </a:r>
            <a:br/>
            <a:r>
              <a:t>IMPROVEMENT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Post-change tracking</a:t>
            </a:r>
            <a:br/>
            <a:r>
              <a:t>Rollback capability</a:t>
            </a:r>
            <a:br/>
            <a:r>
              <a:t>Circuit breaker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754880"/>
            <a:ext cx="11247120" cy="59436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886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864D8"/>
                </a:solidFill>
                <a:latin typeface="Segoe UI"/>
              </a:defRPr>
            </a:pPr>
            <a:r>
              <a:t>CONTINUOUS FEEDBACK LOOP  &lt;&lt;&lt;  Phase 5 feeds learnings back to Phase 2  |  Algorithm accuracy improves over time  |  Rollback data refines recommendations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577840"/>
            <a:ext cx="11247120" cy="50292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E6FF"/>
                </a:solidFill>
                <a:latin typeface="Segoe UI"/>
              </a:defRPr>
            </a:pPr>
            <a:r>
              <a:t>WEB APPLICATION (Cross-Cutting)  |  Dashboards  |  Reports  |  Approval Workflows  |  Self-Service Restore  |  Configuration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93"/>
                </a:solidFill>
                <a:latin typeface="Segoe UI"/>
              </a:defRPr>
            </a:pPr>
            <a:r>
              <a:t>8 Safeguard Gates  |  22 Processes  |  RACI Matrix  |  Error Handling &amp; Recovery 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34 Optimization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0E6FF"/>
                </a:solidFill>
                <a:latin typeface="Segoe UI"/>
              </a:defRPr>
            </a:pPr>
            <a:r>
              <a:t>Comprehensive coverage across cost, security, behavior, role management, and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148840" cy="411480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Cost</a:t>
            </a:r>
            <a:br/>
            <a:r>
              <a:t>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853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Read-Only User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6440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License Minority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65576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Cross-Role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66744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Component Removal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6791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Role Splitting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6908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New User License Suggestion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79192" y="1463040"/>
            <a:ext cx="2148840" cy="411480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16002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Security &amp;</a:t>
            </a:r>
            <a:br/>
            <a:r>
              <a:t>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4D4D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85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306324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SoD Violation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326440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Orphaned Account Cleanup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3465576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Entra-D365 License 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3666744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Privilege Creep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6352" y="386791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Toxic Combinations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406908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Emergency Account Monitor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92624" y="1463040"/>
            <a:ext cx="2148840" cy="411480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0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9784" y="16002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User Behavior</a:t>
            </a:r>
            <a:br/>
            <a:r>
              <a:t>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4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7C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44184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85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9784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44184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9784" y="306324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Time-Based Access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9784" y="326440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Session Anomaly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9784" y="3465576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Geographic Access Patterns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9784" y="3666744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Usage Pattern Analysis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06056" y="1463040"/>
            <a:ext cx="2148840" cy="411480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43216" y="16002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Role</a:t>
            </a:r>
            <a:br/>
            <a:r>
              <a:t>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B90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6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853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43216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6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3216" y="306324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Stale Role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3216" y="326440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Permission Explosion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43216" y="3465576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Duplicate Role Consolidation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43216" y="3666744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Role Standardization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19488" y="1463040"/>
            <a:ext cx="2148840" cy="411480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886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56648" y="16002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Advanced</a:t>
            </a:r>
            <a:br/>
            <a:r>
              <a:t>Analytics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8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864D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71048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85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56648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71048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48" y="306324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License Trend Forecasting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56648" y="326440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Cost Allocation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56648" y="3465576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What-If Scenario Modeling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56648" y="3666744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ROI Calculator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56648" y="386791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  Utilization Trending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852160"/>
            <a:ext cx="1069848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D0"/>
                </a:solidFill>
                <a:latin typeface="Segoe UI"/>
              </a:defRPr>
            </a:pPr>
            <a:r>
              <a:t>Phase 1: 11 algorithms (32% of portfolio)  |  Phase 2+: 23 additional algorithms  |  All documented with pseudocode &amp; decision trees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Phase 1: 11 Selected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C853"/>
                </a:solidFill>
                <a:latin typeface="Segoe UI"/>
              </a:defRPr>
            </a:pPr>
            <a:r>
              <a:t>Quick Wins + High ROI + Low-Medium Complexity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82296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42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42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42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42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4427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442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Justification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783080"/>
            <a:ext cx="8229600" cy="365760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08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808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Read-Only User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808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3"/>
                </a:solidFill>
                <a:latin typeface="Segoe UI"/>
              </a:defRPr>
            </a:pPr>
            <a:r>
              <a:t>2.2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808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20-40%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808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808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Highest ROI, immediate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167128"/>
            <a:ext cx="822960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1925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192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License Minority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1925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3"/>
                </a:solidFill>
                <a:latin typeface="Segoe UI"/>
              </a:defRPr>
            </a:pPr>
            <a:r>
              <a:t>2.5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192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10-40%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2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192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Multi-license optimization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551176"/>
            <a:ext cx="8229600" cy="365760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5765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5765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Component Removal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25765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3"/>
                </a:solidFill>
                <a:latin typeface="Segoe UI"/>
              </a:defRPr>
            </a:pPr>
            <a:r>
              <a:t>1.4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25765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5-15%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57657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5765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Quick wins, low-hanging fruit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2935224"/>
            <a:ext cx="822960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9606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#4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9606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Cross-Role Optimization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296062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3"/>
                </a:solidFill>
                <a:latin typeface="Segoe UI"/>
              </a:defRPr>
            </a:pPr>
            <a:r>
              <a:t>2.6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29606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10-25%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29606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29606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Systemic impact, many users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3319272"/>
            <a:ext cx="8229600" cy="365760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3446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#5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3344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Role Splitting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33446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3"/>
                </a:solidFill>
                <a:latin typeface="Segoe UI"/>
              </a:defRPr>
            </a:pPr>
            <a:r>
              <a:t>1.3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3344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10-30%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33446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Med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3344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High impact in orgs with overlap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3703320"/>
            <a:ext cx="822960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728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#6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372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Multi-Role Optimization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3728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3"/>
                </a:solidFill>
                <a:latin typeface="Segoe UI"/>
              </a:defRPr>
            </a:pPr>
            <a:r>
              <a:t>2.4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039" y="3728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5-15%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37287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Med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0" y="372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30%+ users have 3+ roles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4087368"/>
            <a:ext cx="8229600" cy="365760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1127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4D"/>
                </a:solidFill>
                <a:latin typeface="Segoe UI"/>
              </a:defRPr>
            </a:pPr>
            <a:r>
              <a:t>#7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4112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Orphaned Account Detector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41127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3"/>
                </a:solidFill>
                <a:latin typeface="Segoe UI"/>
              </a:defRPr>
            </a:pPr>
            <a:r>
              <a:t>3.5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49039" y="41127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5-10%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0" y="41127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0" y="4112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Security + savings, quick win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" y="4471416"/>
            <a:ext cx="822960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4968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4D"/>
                </a:solidFill>
                <a:latin typeface="Segoe UI"/>
              </a:defRPr>
            </a:pPr>
            <a:r>
              <a:t>#8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4496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SoD Violation Detector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0" y="449681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3"/>
                </a:solidFill>
                <a:latin typeface="Segoe UI"/>
              </a:defRPr>
            </a:pPr>
            <a:r>
              <a:t>3.1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49039" y="44968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449681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Med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3520" y="44968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SOX compliance mandatory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65760" y="4855464"/>
            <a:ext cx="8229600" cy="365760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88086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7C3"/>
                </a:solidFill>
                <a:latin typeface="Segoe UI"/>
              </a:defRPr>
            </a:pPr>
            <a:r>
              <a:t>#9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48808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Time-Based Access Analyzer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0" y="48808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3"/>
                </a:solidFill>
                <a:latin typeface="Segoe UI"/>
              </a:defRPr>
            </a:pPr>
            <a:r>
              <a:t>5.3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49039" y="48808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63440" y="48808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03520" y="4880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After-hours monitoring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65760" y="5239512"/>
            <a:ext cx="822960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526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64D8"/>
                </a:solidFill>
                <a:latin typeface="Segoe UI"/>
              </a:defRPr>
            </a:pPr>
            <a:r>
              <a:t>#10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" y="526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License Trend Analysis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00400" y="52649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3"/>
                </a:solidFill>
                <a:latin typeface="Segoe UI"/>
              </a:defRPr>
            </a:pPr>
            <a:r>
              <a:t>4.4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49039" y="52649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Strategic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63440" y="52649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3520" y="5264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Budget planning, forecasting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5760" y="5623560"/>
            <a:ext cx="8229600" cy="365760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5648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#11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" y="564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New User License Suggestion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00400" y="5648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3"/>
                </a:solidFill>
                <a:latin typeface="Segoe UI"/>
              </a:defRPr>
            </a:pPr>
            <a:r>
              <a:t>4.7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49039" y="5648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5-15%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63440" y="5648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Med-Hi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03520" y="564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Prevent over-licensing at source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961120" y="1417320"/>
            <a:ext cx="2926080" cy="502920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44000" y="155448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00C853"/>
                </a:solidFill>
                <a:latin typeface="Segoe UI"/>
              </a:defRPr>
            </a:pPr>
            <a:r>
              <a:t>PHASE 1 HIGHLIGHTS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78D4"/>
                </a:solidFill>
                <a:latin typeface="Segoe UI"/>
              </a:defRPr>
            </a:pPr>
            <a:r>
              <a:t>7 Cost Optimization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algorithms targeting license waste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FF4D4D"/>
                </a:solidFill>
                <a:latin typeface="Segoe UI"/>
              </a:defRPr>
            </a:pPr>
            <a:r>
              <a:t>2 Security &amp; Compliance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SoD + orphaned accounts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B7C3"/>
                </a:solidFill>
                <a:latin typeface="Segoe UI"/>
              </a:defRPr>
            </a:pPr>
            <a:r>
              <a:t>1 Behavior Analytics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After-hours access detection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8864D8"/>
                </a:solidFill>
                <a:latin typeface="Segoe UI"/>
              </a:defRPr>
            </a:pPr>
            <a:r>
              <a:t>1 Advanced Analytics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12-month license trend forecasting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25-40% of users optimized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All data available today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Business Impact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C853"/>
                </a:solidFill>
                <a:latin typeface="Segoe UI"/>
              </a:defRPr>
            </a:pPr>
            <a:r>
              <a:t>Quantified cost savings across organization sizes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8778240" cy="4114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925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Organization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5925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Current Annual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5925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Phase 1 Annual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5925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5925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Payback Period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65960"/>
            <a:ext cx="8778240" cy="438912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16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Small (500 users)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16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Segoe UI"/>
              </a:defRPr>
            </a:pPr>
            <a:r>
              <a:t>$1.08M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16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Segoe UI"/>
              </a:defRPr>
            </a:pPr>
            <a:r>
              <a:t>$162K - $270K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16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6FF"/>
                </a:solidFill>
                <a:latin typeface="Segoe UI"/>
              </a:defRPr>
            </a:pPr>
            <a:r>
              <a:t>15-25%*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16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Segoe UI"/>
              </a:defRPr>
            </a:pPr>
            <a:r>
              <a:t>2-3 months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23160"/>
            <a:ext cx="877824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473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Medium (2,000 users)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473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Segoe UI"/>
              </a:defRPr>
            </a:pPr>
            <a:r>
              <a:t>$4.32M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473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Segoe UI"/>
              </a:defRPr>
            </a:pPr>
            <a:r>
              <a:t>$648K - $1.08M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473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6FF"/>
                </a:solidFill>
                <a:latin typeface="Segoe UI"/>
              </a:defRPr>
            </a:pPr>
            <a:r>
              <a:t>15-25%*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473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Segoe UI"/>
              </a:defRPr>
            </a:pPr>
            <a:r>
              <a:t>2-3 months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880360"/>
            <a:ext cx="8778240" cy="438912"/>
          </a:xfrm>
          <a:prstGeom prst="roundRect">
            <a:avLst/>
          </a:prstGeom>
          <a:solidFill>
            <a:srgbClr val="1B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931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Large (10,000 users)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2931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Segoe UI"/>
              </a:defRPr>
            </a:pPr>
            <a:r>
              <a:t>$21.6M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931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Segoe UI"/>
              </a:defRPr>
            </a:pPr>
            <a:r>
              <a:t>$3.2M - $5.4M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931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6FF"/>
                </a:solidFill>
                <a:latin typeface="Segoe UI"/>
              </a:defRPr>
            </a:pPr>
            <a:r>
              <a:t>15-25%*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931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0"/>
                </a:solidFill>
                <a:latin typeface="Segoe UI"/>
              </a:defRPr>
            </a:pPr>
            <a:r>
              <a:t>3-4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520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3"/>
                </a:solidFill>
                <a:latin typeface="Segoe UI"/>
              </a:defRPr>
            </a:pPr>
            <a:r>
              <a:t>*Pending validation of Team Members license form eligibility. Range may increase to 20-35%.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554480"/>
            <a:ext cx="2286000" cy="82296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16179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53"/>
                </a:solidFill>
                <a:latin typeface="Segoe UI"/>
              </a:defRPr>
            </a:pPr>
            <a:r>
              <a:t>ANNUAL ROI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1833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300-500%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89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Return on investment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2514600"/>
            <a:ext cx="2286000" cy="82296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25781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PAYBACK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2794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2-4 Months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3149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Time to recover costs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3474720"/>
            <a:ext cx="2286000" cy="82296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0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35382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7C3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3754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3-4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4109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To production ready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023360"/>
            <a:ext cx="1115568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Operational Benefits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709160"/>
            <a:ext cx="2651760" cy="82296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80% Reduction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in manual review time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29000" y="4709160"/>
            <a:ext cx="2651760" cy="82296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188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Segoe UI"/>
              </a:defRPr>
            </a:pPr>
            <a:r>
              <a:t>90% Reduction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in audit preparation time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4709160"/>
            <a:ext cx="2651760" cy="82296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7C3"/>
                </a:solidFill>
                <a:latin typeface="Segoe UI"/>
              </a:defRPr>
            </a:pPr>
            <a:r>
              <a:t>25-40% of Users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optimized with license changes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89720" y="4709160"/>
            <a:ext cx="2651760" cy="82296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886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26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864D8"/>
                </a:solidFill>
                <a:latin typeface="Segoe UI"/>
              </a:defRPr>
            </a:pPr>
            <a:r>
              <a:t>SOX Foundation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compliance established from day 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760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93"/>
                </a:solidFill>
                <a:latin typeface="Segoe UI"/>
              </a:defRPr>
            </a:pPr>
            <a:r>
              <a:t>KPIs: 15-25% cost reduction (+3-8% with Entra sync)  |  25-40% users optimized  |  &lt; 24h data freshness  |  &gt; 80% user adoption  |  &gt; 70% recommendation acceptance  |  100% audit readiness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0E6FF"/>
                </a:solidFill>
                <a:latin typeface="Segoe UI"/>
              </a:defRPr>
            </a:pPr>
            <a:r>
              <a:t>Built on Azure AI Foundry + Azure AI Agent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7432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08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D365 FO Security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700K+ records via OData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7432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11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D365 FO User-Role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200K records via OData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88920"/>
            <a:ext cx="27432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14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Azure App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10M events/day streaming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27432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17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D365 FO Audit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2044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Real-time change tracking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27432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201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Microsoft Graph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233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Entra ID licenses (optional)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6FF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7C3"/>
                </a:solidFill>
                <a:latin typeface="Segoe UI"/>
              </a:defRPr>
            </a:pPr>
            <a:r>
              <a:t>AZURE AI AGENT (6 Layers)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1783080"/>
            <a:ext cx="45720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1808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1. Data Ingestion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808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OData connectors, Event Hubs,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2286000"/>
            <a:ext cx="45720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2311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7C3"/>
                </a:solidFill>
                <a:latin typeface="Segoe UI"/>
              </a:defRPr>
            </a:pPr>
            <a:r>
              <a:t>2. Algorithm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2311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34 algorithms, parallel processing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2788920"/>
            <a:ext cx="45720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77639" y="2814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Segoe UI"/>
              </a:defRPr>
            </a:pPr>
            <a:r>
              <a:t>3. Recommendation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2814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Confidence scoring, priority ranking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3291840"/>
            <a:ext cx="45720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3317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900"/>
                </a:solidFill>
                <a:latin typeface="Segoe UI"/>
              </a:defRPr>
            </a:pPr>
            <a:r>
              <a:t>4. Scheduling &amp; 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317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Daily/weekly/monthly + event-triggered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0" y="3794760"/>
            <a:ext cx="45720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886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77639" y="3820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64D8"/>
                </a:solidFill>
                <a:latin typeface="Segoe UI"/>
              </a:defRPr>
            </a:pPr>
            <a:r>
              <a:t>5. API &amp;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38201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REST APIs, WebSocket, batch export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40480" y="4297680"/>
            <a:ext cx="45720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77639" y="4323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4D"/>
                </a:solidFill>
                <a:latin typeface="Segoe UI"/>
              </a:defRPr>
            </a:pPr>
            <a:r>
              <a:t>6. Audit &amp;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4323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Immutable logs, data lineage, 7yr retention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6FF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Segoe UI"/>
              </a:defRPr>
            </a:pPr>
            <a:r>
              <a:t>WEB APPLICATION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52560" y="1783080"/>
            <a:ext cx="27432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1808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Executive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20116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Cost savings, trends, health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2286000"/>
            <a:ext cx="27432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20" y="2311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Recommendation Center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25146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Review, approve, track changes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2788920"/>
            <a:ext cx="27432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2814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Compliance Reports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30175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SOX, GDPR, ISO evidence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52560" y="3291840"/>
            <a:ext cx="274320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89720" y="3317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Self-Service Portal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20" y="352044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3"/>
                </a:solidFill>
                <a:latin typeface="Segoe UI"/>
              </a:defRPr>
            </a:pPr>
            <a:r>
              <a:t>User restore, status tracking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46320"/>
            <a:ext cx="1124712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57200" y="5029200"/>
            <a:ext cx="2148840" cy="13716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Compute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5349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Azure Functions</a:t>
            </a:r>
            <a:br/>
            <a:r>
              <a:t>Azure Batch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88920" y="5029200"/>
            <a:ext cx="2148840" cy="13716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2608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7C3"/>
                </a:solidFill>
                <a:latin typeface="Segoe UI"/>
              </a:defRPr>
            </a:pPr>
            <a:r>
              <a:t>Storage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26080" y="5349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Azure SQL</a:t>
            </a:r>
            <a:br/>
            <a:r>
              <a:t>Data Lake Gen2</a:t>
            </a:r>
            <a:br/>
            <a:r>
              <a:t>Cosmos DB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120640" y="5029200"/>
            <a:ext cx="2148840" cy="13716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578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57800" y="5349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Event Hubs</a:t>
            </a:r>
            <a:br/>
            <a:r>
              <a:t>API Management</a:t>
            </a:r>
            <a:br/>
            <a:r>
              <a:t>Logic Apps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52360" y="5029200"/>
            <a:ext cx="2148840" cy="13716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8952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900"/>
                </a:solidFill>
                <a:latin typeface="Segoe UI"/>
              </a:defRPr>
            </a:pPr>
            <a:r>
              <a:t>Monitoring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5349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App Insights</a:t>
            </a:r>
            <a:br/>
            <a:r>
              <a:t>Azure Monitor</a:t>
            </a:r>
            <a:br/>
            <a:r>
              <a:t>Log Analytics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784080" y="5029200"/>
            <a:ext cx="2148840" cy="13716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2124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D4D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21240" y="5349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Key Vault</a:t>
            </a:r>
            <a:br/>
            <a:r>
              <a:t>Azure AD</a:t>
            </a:r>
            <a:br/>
            <a:r>
              <a:t>Azure Policy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4D4D"/>
                </a:solidFill>
                <a:latin typeface="Segoe UI"/>
              </a:defRPr>
            </a:pPr>
            <a:r>
              <a:t>Enterprise-grade security with built-in compliance frameworks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274320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D4D"/>
                </a:solidFill>
                <a:latin typeface="Segoe UI"/>
              </a:defRPr>
            </a:pPr>
            <a:r>
              <a:t>Separation of Duties (SoD)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Accounts Payable (7 rules) - Invoice creation vs. payment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Accounts Receivable (4 rules) - Customer credit vs. collections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General Ledger (4 rules) - Journal entry vs. posting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Procurement (4 rules) - Purchase orders vs. vendor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Fixed Assets (3 rules) - Acquisition vs. disposal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Inventory (3 rules) - Adjustment vs. counting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System Admin (2 rules) - Security config vs. business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27 rules across 7 categories  |  Industry-standard conflict matrix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5486400" cy="86868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265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D4D"/>
                </a:solidFill>
                <a:latin typeface="Segoe UI"/>
              </a:defRPr>
            </a:pPr>
            <a:r>
              <a:t>SOX Section 404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5265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Access control documentation</a:t>
            </a:r>
            <a:br/>
            <a:r>
              <a:t>Role assignment history</a:t>
            </a:r>
            <a:br/>
            <a:r>
              <a:t>Change management audit trail</a:t>
            </a:r>
            <a:br/>
            <a:r>
              <a:t>Automated evidence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423160"/>
            <a:ext cx="5486400" cy="86868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4866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GDPR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4866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PII data protection &amp; encryption</a:t>
            </a:r>
            <a:br/>
            <a:r>
              <a:t>Data access documentation</a:t>
            </a:r>
            <a:br/>
            <a:r>
              <a:t>Right to erasure compliance</a:t>
            </a:r>
            <a:br/>
            <a:r>
              <a:t>Data breach notification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83280"/>
            <a:ext cx="5486400" cy="86868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0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4467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7C3"/>
                </a:solidFill>
                <a:latin typeface="Segoe UI"/>
              </a:defRPr>
            </a:pPr>
            <a:r>
              <a:t>ISO 27001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4467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0"/>
                </a:solidFill>
                <a:latin typeface="Segoe UI"/>
              </a:defRPr>
            </a:pPr>
            <a:r>
              <a:t>Security monitoring evidence</a:t>
            </a:r>
            <a:br/>
            <a:r>
              <a:t>Access review audit logs</a:t>
            </a:r>
            <a:br/>
            <a:r>
              <a:t>Incident response documentation</a:t>
            </a:r>
            <a:br/>
            <a:r>
              <a:t>Risk assessment results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11247120" cy="381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8 Safeguard Gates Protecting Every Phase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1325880" cy="109728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507492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778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0"/>
                </a:solidFill>
                <a:latin typeface="Segoe UI"/>
              </a:defRPr>
            </a:pPr>
            <a:r>
              <a:t>Data validation</a:t>
            </a:r>
            <a:br/>
            <a:r>
              <a:t>thresholds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01952" y="5029200"/>
            <a:ext cx="1325880" cy="109728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13432" y="5074920"/>
            <a:ext cx="457200" cy="457200"/>
          </a:xfrm>
          <a:prstGeom prst="ellipse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93392" y="55778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0"/>
                </a:solidFill>
                <a:latin typeface="Segoe UI"/>
              </a:defRPr>
            </a:pPr>
            <a:r>
              <a:t>Minimum confidence</a:t>
            </a:r>
            <a:br/>
            <a:r>
              <a:t>scores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46704" y="5029200"/>
            <a:ext cx="1325880" cy="109728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758184" y="5074920"/>
            <a:ext cx="457200" cy="45720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8144" y="55778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0"/>
                </a:solidFill>
                <a:latin typeface="Segoe UI"/>
              </a:defRPr>
            </a:pPr>
            <a:r>
              <a:t>30-day observation</a:t>
            </a:r>
            <a:br/>
            <a:r>
              <a:t>mode pass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91456" y="5029200"/>
            <a:ext cx="1325880" cy="109728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202936" y="5074920"/>
            <a:ext cx="457200" cy="45720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82896" y="55778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0"/>
                </a:solidFill>
                <a:latin typeface="Segoe UI"/>
              </a:defRPr>
            </a:pPr>
            <a:r>
              <a:t>Manager approval</a:t>
            </a:r>
            <a:br/>
            <a:r>
              <a:t>required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6208" y="5029200"/>
            <a:ext cx="1325880" cy="109728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886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647688" y="5074920"/>
            <a:ext cx="457200" cy="457200"/>
          </a:xfrm>
          <a:prstGeom prst="ellipse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55778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0"/>
                </a:solidFill>
                <a:latin typeface="Segoe UI"/>
              </a:defRPr>
            </a:pPr>
            <a:r>
              <a:t>Period-end</a:t>
            </a:r>
            <a:br/>
            <a:r>
              <a:t>freeze check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5029200"/>
            <a:ext cx="1325880" cy="109728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092440" y="5074920"/>
            <a:ext cx="457200" cy="45720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5778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0"/>
                </a:solidFill>
                <a:latin typeface="Segoe UI"/>
              </a:defRPr>
            </a:pPr>
            <a:r>
              <a:t>Circuit breaker</a:t>
            </a:r>
            <a:br/>
            <a:r>
              <a:t>monitoring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25712" y="5029200"/>
            <a:ext cx="1325880" cy="109728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37192" y="507492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7152" y="55778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0"/>
                </a:solidFill>
                <a:latin typeface="Segoe UI"/>
              </a:defRPr>
            </a:pPr>
            <a:r>
              <a:t>Rollback SLA</a:t>
            </a:r>
            <a:br/>
            <a:r>
              <a:t>enforcement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70464" y="5029200"/>
            <a:ext cx="1325880" cy="109728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981944" y="5074920"/>
            <a:ext cx="457200" cy="457200"/>
          </a:xfrm>
          <a:prstGeom prst="ellipse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1904" y="557784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0"/>
                </a:solidFill>
                <a:latin typeface="Segoe UI"/>
              </a:defRPr>
            </a:pPr>
            <a:r>
              <a:t>Escalation tier</a:t>
            </a:r>
            <a:br/>
            <a:r>
              <a:t>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0E6FF"/>
                </a:solidFill>
                <a:latin typeface="Segoe UI"/>
              </a:defRPr>
            </a:pPr>
            <a:r>
              <a:t>14 weeks to production across 4 sprints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63040"/>
            <a:ext cx="2743200" cy="384048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463040"/>
            <a:ext cx="2743200" cy="3200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SPRINT 1  |  Weeks 1-3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Foundation &amp; Quick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Read-Only User Detector (2.2)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Component Removal (1.4)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Orphaned Account Detector (3.5)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Time-Based Access Analyzer (5.3)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51960"/>
            <a:ext cx="246888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77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$150K-$750K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8640" y="30175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B93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1463040"/>
            <a:ext cx="2743200" cy="384048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0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1463040"/>
            <a:ext cx="2743200" cy="320040"/>
          </a:xfrm>
          <a:prstGeom prst="round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4904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SPRINT 2  |  Weeks 4-7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Advanced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License Minority Detection (2.5)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606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Cross-Role Optimization (2.6)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Role Splitting Recommender (1.3)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251960"/>
            <a:ext cx="2468880" cy="365760"/>
          </a:xfrm>
          <a:prstGeom prst="round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4277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$230K-$1M savings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9000" y="30175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B93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1463040"/>
            <a:ext cx="2743200" cy="384048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0760" y="1463040"/>
            <a:ext cx="2743200" cy="320040"/>
          </a:xfrm>
          <a:prstGeom prst="round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4904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SPRINT 3  |  Weeks 8-12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Compliance &amp;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Multi-Role Optimization (2.4)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606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SoD Violation Detector (3.1)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License Trend Analysis (4.4)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251960"/>
            <a:ext cx="2468880" cy="365760"/>
          </a:xfrm>
          <a:prstGeom prst="round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277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$280K-$1.2M savings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9360" y="30175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B93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1463040"/>
            <a:ext cx="2743200" cy="384048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61120" y="1463040"/>
            <a:ext cx="2743200" cy="3200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14904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SPRINT 4  |  Weeks 12-14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Integration &amp; Launch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End-to-end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606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User acceptance testing (UAT)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Performance optimization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154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Production deployment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8280" y="4251960"/>
            <a:ext cx="246888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4277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PRODUCTION READY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577840"/>
            <a:ext cx="11247120" cy="457200"/>
          </a:xfrm>
          <a:prstGeom prst="roundRect">
            <a:avLst/>
          </a:prstGeom>
          <a:solidFill>
            <a:srgbClr val="1B253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6413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0E6FF"/>
                </a:solidFill>
                <a:latin typeface="Segoe UI"/>
              </a:defRPr>
            </a:pPr>
            <a:r>
              <a:t>Week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56413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0E6FF"/>
                </a:solidFill>
                <a:latin typeface="Segoe UI"/>
              </a:defRPr>
            </a:pPr>
            <a:r>
              <a:t>Week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56413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0E6FF"/>
                </a:solidFill>
                <a:latin typeface="Segoe UI"/>
              </a:defRPr>
            </a:pPr>
            <a:r>
              <a:t>Week 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6413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0E6FF"/>
                </a:solidFill>
                <a:latin typeface="Segoe UI"/>
              </a:defRPr>
            </a:pPr>
            <a:r>
              <a:t>Week 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56413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0E6FF"/>
                </a:solidFill>
                <a:latin typeface="Segoe UI"/>
              </a:defRPr>
            </a:pPr>
            <a:r>
              <a:t>Week 14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577840"/>
            <a:ext cx="11247120" cy="508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93"/>
                </a:solidFill>
                <a:latin typeface="Segoe UI"/>
              </a:defRPr>
            </a:pPr>
            <a:r>
              <a:t>3-4 developers  |  Agile sprints  |  CI/CD pipeline  |  Blue-Green deployment  |  Infrastructure as Code (Terraform/Bicep)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Why This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64D8"/>
                </a:solidFill>
                <a:latin typeface="Segoe UI"/>
              </a:defRPr>
            </a:pPr>
            <a:r>
              <a:t>Purpose-built for D365 FO with deep domain expertise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611880" cy="214884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118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15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D365 FO 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75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Purpose-Built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85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Understands D365 FO licensing model natively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425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Knows that 'highest license wins' across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965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Leverages read-only access rules for downgrades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505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Handles Team Members / Operations / Commerce tiers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463040"/>
            <a:ext cx="3611880" cy="214884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0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463040"/>
            <a:ext cx="3611880" cy="5080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15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7C3"/>
                </a:solidFill>
                <a:latin typeface="Segoe UI"/>
              </a:defRPr>
            </a:pPr>
            <a:r>
              <a:t>AI-POWERED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075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Not Just Rules —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885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Confidence scoring on every 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425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Pattern recognition across user populations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965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Continuous learning from rollback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0505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Trend analysis and 12-month forecasting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463040"/>
            <a:ext cx="3611880" cy="214884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463040"/>
            <a:ext cx="3611880" cy="50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615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SAFETY-FIRST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9075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8 Gates, Zero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2885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30-day observation mode before any 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5425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Manager approval workflow required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7965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Circuit breaker auto-disables on high rollback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05054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Period-end safeguard freezes during close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794760"/>
            <a:ext cx="3611880" cy="214884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794760"/>
            <a:ext cx="3611880" cy="50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47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D4D"/>
                </a:solidFill>
                <a:latin typeface="Segoe UI"/>
              </a:defRPr>
            </a:pPr>
            <a:r>
              <a:t>COMPLIANCE-READY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392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Audit From Day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202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SOX Section 404 evidence auto-generated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742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27-rule SoD conflict detection matrix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1282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Immutable audit trail with 7-year retention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3822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GDPR and ISO 27001 reporting built-in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3794760"/>
            <a:ext cx="3611880" cy="214884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06240" y="3794760"/>
            <a:ext cx="3611880" cy="508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3947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900"/>
                </a:solidFill>
                <a:latin typeface="Segoe UI"/>
              </a:defRPr>
            </a:pPr>
            <a:r>
              <a:t>SCALABLE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2392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500 to 50,000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6202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Horizontal scaling via Azure infrastructure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48742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Delta sync reduces OData load by 95%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1282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Processes 10M telemetry events per day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3822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API handles 1,000+ requests per second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3794760"/>
            <a:ext cx="3611880" cy="2148840"/>
          </a:xfrm>
          <a:prstGeom prst="roundRect">
            <a:avLst/>
          </a:prstGeom>
          <a:solidFill>
            <a:srgbClr val="1B253B"/>
          </a:solidFill>
          <a:ln w="19050">
            <a:solidFill>
              <a:srgbClr val="886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20" y="3794760"/>
            <a:ext cx="3611880" cy="50800"/>
          </a:xfrm>
          <a:prstGeom prst="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3947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64D8"/>
                </a:solidFill>
                <a:latin typeface="Segoe UI"/>
              </a:defRPr>
            </a:pPr>
            <a:r>
              <a:t>PHASED DELIVERY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2392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Value From Week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6202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Phase 1: 11 algorithms, immediate savings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8742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Phase 2: 23 more algorithms ready to go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1282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Modular architecture — add algorithms easily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3822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0"/>
                </a:solidFill>
                <a:latin typeface="Segoe UI"/>
              </a:defRPr>
            </a:pPr>
            <a:r>
              <a:t>ROI starts in first sprint, not after go-live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6217920"/>
            <a:ext cx="10698480" cy="38100"/>
          </a:xfrm>
          <a:prstGeom prst="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6309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D0"/>
                </a:solidFill>
                <a:latin typeface="Segoe UI"/>
              </a:defRPr>
            </a:pPr>
            <a:r>
              <a:t>34 algorithms  |  23 documents of requirements  |  3,000+ pages of specifications  |  Built to enterprise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Ready to Optimize?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0E6FF"/>
                </a:solidFill>
                <a:latin typeface="Segoe UI"/>
              </a:defRPr>
            </a:pPr>
            <a:r>
              <a:t>Start saving 15-25% on D365 FO license costs in 3-4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743200"/>
            <a:ext cx="3047695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2651760" cy="182880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329184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Stakeholder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Present Phase 1 selection</a:t>
            </a:r>
            <a:br/>
            <a:r>
              <a:t>Validate priorities</a:t>
            </a:r>
            <a:br/>
            <a:r>
              <a:t>Confirm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200400"/>
            <a:ext cx="2651760" cy="182880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0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3400" y="3291840"/>
            <a:ext cx="502920" cy="502920"/>
          </a:xfrm>
          <a:prstGeom prst="ellipse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Technical Feasibility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251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Validate data access</a:t>
            </a:r>
            <a:br/>
            <a:r>
              <a:t>Architecture planning</a:t>
            </a:r>
            <a:br/>
            <a:r>
              <a:t>Azure service selection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2651760" cy="182880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0" y="3291840"/>
            <a:ext cx="502920" cy="50292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Sprint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51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Team allocation</a:t>
            </a:r>
            <a:br/>
            <a:r>
              <a:t>Detailed sprint breakdown</a:t>
            </a:r>
            <a:br/>
            <a:r>
              <a:t>Kickoff meeting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200400"/>
            <a:ext cx="2651760" cy="1828800"/>
          </a:xfrm>
          <a:prstGeom prst="roundRect">
            <a:avLst/>
          </a:prstGeom>
          <a:solidFill>
            <a:srgbClr val="1B253B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04120" y="3291840"/>
            <a:ext cx="502920" cy="50292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Development Begins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4251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D0"/>
                </a:solidFill>
                <a:latin typeface="Segoe UI"/>
              </a:defRPr>
            </a:pPr>
            <a:r>
              <a:t>Sprint 1 launches</a:t>
            </a:r>
            <a:br/>
            <a:r>
              <a:t>First results in 2-3 weeks</a:t>
            </a:r>
            <a:br/>
            <a:r>
              <a:t>ROI from day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03520"/>
            <a:ext cx="1069848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0E6FF"/>
                </a:solidFill>
                <a:latin typeface="Segoe UI"/>
              </a:defRPr>
            </a:pPr>
            <a:r>
              <a:t>34 Algorithms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93"/>
                </a:solidFill>
                <a:latin typeface="Segoe UI"/>
              </a:defRPr>
            </a:pPr>
            <a:r>
              <a:t>11 in Phase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0E6FF"/>
                </a:solidFill>
                <a:latin typeface="Segoe UI"/>
              </a:defRPr>
            </a:pPr>
            <a:r>
              <a:t>15-25% Savings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93"/>
                </a:solidFill>
                <a:latin typeface="Segoe UI"/>
              </a:defRPr>
            </a:pPr>
            <a:r>
              <a:t>300-500% ROI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0E6FF"/>
                </a:solidFill>
                <a:latin typeface="Segoe UI"/>
              </a:defRPr>
            </a:pPr>
            <a:r>
              <a:t>3-4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93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0E6FF"/>
                </a:solidFill>
                <a:latin typeface="Segoe UI"/>
              </a:defRPr>
            </a:pPr>
            <a:r>
              <a:t>2-4 Month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93"/>
                </a:solidFill>
                <a:latin typeface="Segoe UI"/>
              </a:defRPr>
            </a:pPr>
            <a:r>
              <a:t>Payback Period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93"/>
                </a:solidFill>
                <a:latin typeface="Segoe UI"/>
              </a:defRPr>
            </a:pPr>
            <a:r>
              <a:t>D365 FO License &amp; Security Optimization Agent  |  Built on Azure AI Foundry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